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Calibri (MS)" charset="1" panose="020F05020202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5343" y="3431677"/>
            <a:ext cx="12765853" cy="82363"/>
            <a:chOff x="0" y="0"/>
            <a:chExt cx="1702113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21175" cy="109855"/>
            </a:xfrm>
            <a:custGeom>
              <a:avLst/>
              <a:gdLst/>
              <a:ahLst/>
              <a:cxnLst/>
              <a:rect r="r" b="b" t="t" l="l"/>
              <a:pathLst>
                <a:path h="109855" w="17021175">
                  <a:moveTo>
                    <a:pt x="0" y="0"/>
                  </a:moveTo>
                  <a:lnTo>
                    <a:pt x="17021175" y="0"/>
                  </a:lnTo>
                  <a:lnTo>
                    <a:pt x="1702117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150450" y="3637636"/>
            <a:ext cx="13955649" cy="208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5"/>
              </a:lnSpc>
            </a:pPr>
            <a:r>
              <a:rPr lang="en-US" sz="540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Soil Moisture Proxy Mapping &amp; Crop Suitability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50450" y="5744270"/>
            <a:ext cx="13955649" cy="79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>
                <a:solidFill>
                  <a:srgbClr val="00B4D8"/>
                </a:solidFill>
                <a:latin typeface="Calibri (MS)"/>
                <a:ea typeface="Calibri (MS)"/>
                <a:cs typeface="Calibri (MS)"/>
                <a:sym typeface="Calibri (MS)"/>
              </a:rPr>
              <a:t>Using Remote Sensing and Machine Learning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745343" y="6863363"/>
            <a:ext cx="12765853" cy="82363"/>
            <a:chOff x="0" y="0"/>
            <a:chExt cx="17021137" cy="1098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021175" cy="109855"/>
            </a:xfrm>
            <a:custGeom>
              <a:avLst/>
              <a:gdLst/>
              <a:ahLst/>
              <a:cxnLst/>
              <a:rect r="r" b="b" t="t" l="l"/>
              <a:pathLst>
                <a:path h="109855" w="17021175">
                  <a:moveTo>
                    <a:pt x="0" y="0"/>
                  </a:moveTo>
                  <a:lnTo>
                    <a:pt x="17021175" y="0"/>
                  </a:lnTo>
                  <a:lnTo>
                    <a:pt x="1702117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150450" y="7126462"/>
            <a:ext cx="1395564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Bidar District, Karnataka, India 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50450" y="7969120"/>
            <a:ext cx="1395564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Author: Sainath[23bcs115]    |  Course: Remote Sensing and GIS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09064"/>
            <a:ext cx="8053159" cy="81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1372676"/>
            <a:ext cx="5490686" cy="82363"/>
            <a:chOff x="0" y="0"/>
            <a:chExt cx="7320915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20915" cy="109855"/>
            </a:xfrm>
            <a:custGeom>
              <a:avLst/>
              <a:gdLst/>
              <a:ahLst/>
              <a:cxnLst/>
              <a:rect r="r" b="b" t="t" l="l"/>
              <a:pathLst>
                <a:path h="109855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89577" y="1792091"/>
            <a:ext cx="7366816" cy="749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Soil moisture is critical for agriculture — controls germination, root growth, nutrient transport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Field sensors are expensive &amp; impractical for large areas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Remote sensing offers scalable alternative using satellite imagery</a:t>
            </a: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This project builds a complete geospatial pipeline: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   ➤ TVDI-based soil moisture proxy from MODIS data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   ➤ TWI from SRTM DEM for terrain moisture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   ➤ Multi-Criteria Evaluation for Maize suitability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   ➤ ML classification (RF, SVM, Gradient Boosting)</a:t>
            </a: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All real satellite data — no synthetic data used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793556" y="1830191"/>
            <a:ext cx="7768871" cy="6261079"/>
            <a:chOff x="0" y="0"/>
            <a:chExt cx="12490417" cy="10066261"/>
          </a:xfrm>
        </p:grpSpPr>
        <p:sp>
          <p:nvSpPr>
            <p:cNvPr name="Freeform 7" id="7" descr="real_ndvi.png"/>
            <p:cNvSpPr/>
            <p:nvPr/>
          </p:nvSpPr>
          <p:spPr>
            <a:xfrm flipH="false" flipV="false" rot="0">
              <a:off x="0" y="0"/>
              <a:ext cx="12490429" cy="10066274"/>
            </a:xfrm>
            <a:custGeom>
              <a:avLst/>
              <a:gdLst/>
              <a:ahLst/>
              <a:cxnLst/>
              <a:rect r="r" b="b" t="t" l="l"/>
              <a:pathLst>
                <a:path h="10066274" w="12490429">
                  <a:moveTo>
                    <a:pt x="0" y="0"/>
                  </a:moveTo>
                  <a:lnTo>
                    <a:pt x="12490429" y="0"/>
                  </a:lnTo>
                  <a:lnTo>
                    <a:pt x="12490429" y="10066274"/>
                  </a:lnTo>
                  <a:lnTo>
                    <a:pt x="0" y="10066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38" t="0" r="-938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09064"/>
            <a:ext cx="8053159" cy="81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1372676"/>
            <a:ext cx="5490686" cy="82363"/>
            <a:chOff x="0" y="0"/>
            <a:chExt cx="7320915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20915" cy="109855"/>
            </a:xfrm>
            <a:custGeom>
              <a:avLst/>
              <a:gdLst/>
              <a:ahLst/>
              <a:cxnLst/>
              <a:rect r="r" b="b" t="t" l="l"/>
              <a:pathLst>
                <a:path h="109855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89577" y="1773041"/>
            <a:ext cx="14916512" cy="682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1.  Acquire &amp; preprocess multi-source remote sensing data (MODIS NDVI, LST, SRTM DEM, CHIRPS, SoilGrids)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2.  Compute soil moisture proxy using TVDI triangle method + TWI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3.  Perform Multi-Criteria Evaluation (MCE) for Maize crop suitability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4.  Train &amp; evaluate 3 ML classifiers for automated suitability prediction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5.  Generate thematic maps and accuracy assessment reports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09064"/>
            <a:ext cx="8053159" cy="81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Study Area — Bidar District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1372676"/>
            <a:ext cx="6863363" cy="82363"/>
            <a:chOff x="0" y="0"/>
            <a:chExt cx="9151150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51112" cy="109855"/>
            </a:xfrm>
            <a:custGeom>
              <a:avLst/>
              <a:gdLst/>
              <a:ahLst/>
              <a:cxnLst/>
              <a:rect r="r" b="b" t="t" l="l"/>
              <a:pathLst>
                <a:path h="109855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89577" y="1792091"/>
            <a:ext cx="7366816" cy="681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Northernmost district of Karnataka, India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Lat: 17.6°N – 18.3°N  |  Lon: 76.8°E – 77.6°E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Deccan Plateau: 451m – 613m elevation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Semi-arid tropical climate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Annual rainfall: 734 – 1037 mm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Vertisols (black cotton soil), pH ~7.5–8.0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Major crops: Jowar, Maize, Tur, Sunflower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Agriculture is largely rain-fed</a:t>
            </a:r>
          </a:p>
          <a:p>
            <a:pPr algn="l">
              <a:lnSpc>
                <a:spcPts val="2882"/>
              </a:lnSpc>
            </a:pPr>
          </a:p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Bounding Box: EPSG:4326 (WGS84)</a:t>
            </a:r>
          </a:p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Resolution: ~250 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677053" y="1647206"/>
            <a:ext cx="8481349" cy="6605186"/>
            <a:chOff x="0" y="0"/>
            <a:chExt cx="12925522" cy="10066261"/>
          </a:xfrm>
        </p:grpSpPr>
        <p:sp>
          <p:nvSpPr>
            <p:cNvPr name="Freeform 7" id="7" descr="real_dem.png"/>
            <p:cNvSpPr/>
            <p:nvPr/>
          </p:nvSpPr>
          <p:spPr>
            <a:xfrm flipH="false" flipV="false" rot="0">
              <a:off x="0" y="0"/>
              <a:ext cx="12925534" cy="10066274"/>
            </a:xfrm>
            <a:custGeom>
              <a:avLst/>
              <a:gdLst/>
              <a:ahLst/>
              <a:cxnLst/>
              <a:rect r="r" b="b" t="t" l="l"/>
              <a:pathLst>
                <a:path h="10066274" w="12925534">
                  <a:moveTo>
                    <a:pt x="0" y="0"/>
                  </a:moveTo>
                  <a:lnTo>
                    <a:pt x="12925534" y="0"/>
                  </a:lnTo>
                  <a:lnTo>
                    <a:pt x="12925534" y="10066274"/>
                  </a:lnTo>
                  <a:lnTo>
                    <a:pt x="0" y="10066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42" r="0" b="-842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09064"/>
            <a:ext cx="8053159" cy="81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Datasets Used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1372676"/>
            <a:ext cx="5490686" cy="82363"/>
            <a:chOff x="0" y="0"/>
            <a:chExt cx="7320915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20915" cy="109855"/>
            </a:xfrm>
            <a:custGeom>
              <a:avLst/>
              <a:gdLst/>
              <a:ahLst/>
              <a:cxnLst/>
              <a:rect r="r" b="b" t="t" l="l"/>
              <a:pathLst>
                <a:path h="109855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64116" y="1910315"/>
            <a:ext cx="14916512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▸ NDVI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09459" y="1919840"/>
            <a:ext cx="12171169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MOD13Q1 v061  |  NASA AppEEARS  |  250m  |  23 GeoTIFFs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4116" y="2528011"/>
            <a:ext cx="14916512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▸ LST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09459" y="2537536"/>
            <a:ext cx="12171169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MOD11A2 v061  |  NASA AppEEARS  |  1 km  |  45 GeoTIFFs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4116" y="3145717"/>
            <a:ext cx="14916512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▸ DEM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09459" y="3155242"/>
            <a:ext cx="12171169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SRTM GL1  |  OpenTopography  |  30m  |  1 GeoTIFF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4116" y="3763423"/>
            <a:ext cx="14916512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▸ Rainfall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09459" y="3772948"/>
            <a:ext cx="12171169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CHIRPS v2.0  |  UCSB CHRS  |  ~5 km  |  12 files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64116" y="4381119"/>
            <a:ext cx="14916512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▸ Soil pH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09459" y="4390644"/>
            <a:ext cx="12171169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SoilGrids  |  ISRIC  |  250m  |  1 GeoTIFF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4116" y="4998825"/>
            <a:ext cx="14916512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▸ SWI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09459" y="5008350"/>
            <a:ext cx="12171169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Soil Water Index  |  Copernicus  |  1 km  |  1 GeoTIFF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4116" y="6028325"/>
            <a:ext cx="14916512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Total: 163+ raw files  •  All real data from open-access portals  •  Year: 2023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09064"/>
            <a:ext cx="8053159" cy="81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Methodology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1372676"/>
            <a:ext cx="5490686" cy="82363"/>
            <a:chOff x="0" y="0"/>
            <a:chExt cx="7320915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20915" cy="109855"/>
            </a:xfrm>
            <a:custGeom>
              <a:avLst/>
              <a:gdLst/>
              <a:ahLst/>
              <a:cxnLst/>
              <a:rect r="r" b="b" t="t" l="l"/>
              <a:pathLst>
                <a:path h="109855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64116" y="1773041"/>
            <a:ext cx="4621473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Data Preprocessing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68469" y="1782566"/>
            <a:ext cx="107985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Reproject, resample to 250m, apply scale factors, quality masking, temporal averaging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4116" y="2459384"/>
            <a:ext cx="4621473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TWI Computation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68469" y="2468909"/>
            <a:ext cx="107985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TWI = ln(a / tan(β)) from SRTM DEM — identifies wet terrain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4116" y="3145717"/>
            <a:ext cx="4621473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TVDI Computation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68469" y="3155242"/>
            <a:ext cx="107985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LST/NDVI triangle method — soil moisture proxy (0=wet, 1=dry)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4116" y="3832050"/>
            <a:ext cx="4621473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Composite SMI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68469" y="3841575"/>
            <a:ext cx="107985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SMI = 0.6 × (1−TVDI) + 0.4 × TWI — combined moisture index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64116" y="4518393"/>
            <a:ext cx="4621473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MCE Suitability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68469" y="4527918"/>
            <a:ext cx="107985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Weighted Linear Combination: SMI(40%) + Slope(20%) + Rainfall(20%) + pH(20%)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4116" y="5204727"/>
            <a:ext cx="4621473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6. ML Classification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8469" y="5214252"/>
            <a:ext cx="107985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Random Forest, SVM, Gradient Boosting — trained on Copernicus SWI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4116" y="5891060"/>
            <a:ext cx="4621473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 Accuracy Assessment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68469" y="5900585"/>
            <a:ext cx="10798502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Overall Accuracy, Cohen's Kappa, Confusion Matrices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09064"/>
            <a:ext cx="8053159" cy="81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TVDI — Soil Moisture Proxy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1372676"/>
            <a:ext cx="6863363" cy="82363"/>
            <a:chOff x="0" y="0"/>
            <a:chExt cx="9151150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51112" cy="109855"/>
            </a:xfrm>
            <a:custGeom>
              <a:avLst/>
              <a:gdLst/>
              <a:ahLst/>
              <a:cxnLst/>
              <a:rect r="r" b="b" t="t" l="l"/>
              <a:pathLst>
                <a:path h="109855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89577" y="1792091"/>
            <a:ext cx="7366816" cy="612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TVDI = (LST_obs − LST_wet) / (LST_dry − LST_wet)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Procedure: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Bin NDVI into 50 intervals (0.05 – 0.90)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Extract 95th %ile LST (dry edge) per bin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Extract 5th %ile LST (wet edge) per bin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Fit linear regression to both edges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Fitted Edges (Bidar 2023):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Dry:  LST_max = 306.7 + 5.49 × NDVI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Wet:  LST_min = 299.2 + 14.04 × NDVI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TVDI range: 0.000 – 1.000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9271" y="1647206"/>
            <a:ext cx="8139131" cy="6681376"/>
            <a:chOff x="0" y="0"/>
            <a:chExt cx="12262536" cy="10066261"/>
          </a:xfrm>
        </p:grpSpPr>
        <p:sp>
          <p:nvSpPr>
            <p:cNvPr name="Freeform 7" id="7" descr="real_tvdi.png"/>
            <p:cNvSpPr/>
            <p:nvPr/>
          </p:nvSpPr>
          <p:spPr>
            <a:xfrm flipH="false" flipV="false" rot="0">
              <a:off x="0" y="0"/>
              <a:ext cx="12262548" cy="10066274"/>
            </a:xfrm>
            <a:custGeom>
              <a:avLst/>
              <a:gdLst/>
              <a:ahLst/>
              <a:cxnLst/>
              <a:rect r="r" b="b" t="t" l="l"/>
              <a:pathLst>
                <a:path h="10066274" w="12262548">
                  <a:moveTo>
                    <a:pt x="0" y="0"/>
                  </a:moveTo>
                  <a:lnTo>
                    <a:pt x="12262548" y="0"/>
                  </a:lnTo>
                  <a:lnTo>
                    <a:pt x="12262548" y="10066274"/>
                  </a:lnTo>
                  <a:lnTo>
                    <a:pt x="0" y="10066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44" t="0" r="-644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09064"/>
            <a:ext cx="13543845" cy="81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TWI &amp; Composite Soil Moisture Index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1372676"/>
            <a:ext cx="8236039" cy="82363"/>
            <a:chOff x="0" y="0"/>
            <a:chExt cx="10981385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81436" cy="109855"/>
            </a:xfrm>
            <a:custGeom>
              <a:avLst/>
              <a:gdLst/>
              <a:ahLst/>
              <a:cxnLst/>
              <a:rect r="r" b="b" t="t" l="l"/>
              <a:pathLst>
                <a:path h="109855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89577" y="1792091"/>
            <a:ext cx="7366816" cy="3378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TWI = ln(a / tan(β))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a = upstream catchment area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β = local slope angle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Higher TWI = flatter, wetter terrain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Composite SMI:</a:t>
            </a: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SMI = 0.6 × (1−TVDI) + 0.4 × TWI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Inverts TVDI so high = wet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Combines satellite + terrain moisture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153448" y="2779778"/>
            <a:ext cx="5490696" cy="4449659"/>
            <a:chOff x="0" y="0"/>
            <a:chExt cx="6775288" cy="5490693"/>
          </a:xfrm>
        </p:grpSpPr>
        <p:sp>
          <p:nvSpPr>
            <p:cNvPr name="Freeform 7" id="7" descr="real_twi.png"/>
            <p:cNvSpPr/>
            <p:nvPr/>
          </p:nvSpPr>
          <p:spPr>
            <a:xfrm flipH="false" flipV="false" rot="0">
              <a:off x="0" y="0"/>
              <a:ext cx="6775313" cy="5490718"/>
            </a:xfrm>
            <a:custGeom>
              <a:avLst/>
              <a:gdLst/>
              <a:ahLst/>
              <a:cxnLst/>
              <a:rect r="r" b="b" t="t" l="l"/>
              <a:pathLst>
                <a:path h="5490718" w="6775313">
                  <a:moveTo>
                    <a:pt x="0" y="0"/>
                  </a:moveTo>
                  <a:lnTo>
                    <a:pt x="6775313" y="0"/>
                  </a:lnTo>
                  <a:lnTo>
                    <a:pt x="6775313" y="5490718"/>
                  </a:lnTo>
                  <a:lnTo>
                    <a:pt x="0" y="5490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75" t="0" r="-57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815078" y="2779778"/>
            <a:ext cx="5255613" cy="4449659"/>
            <a:chOff x="0" y="0"/>
            <a:chExt cx="6485205" cy="5490693"/>
          </a:xfrm>
        </p:grpSpPr>
        <p:sp>
          <p:nvSpPr>
            <p:cNvPr name="Freeform 9" id="9" descr="real_soil_moisture.png"/>
            <p:cNvSpPr/>
            <p:nvPr/>
          </p:nvSpPr>
          <p:spPr>
            <a:xfrm flipH="false" flipV="false" rot="0">
              <a:off x="0" y="0"/>
              <a:ext cx="6485231" cy="5490718"/>
            </a:xfrm>
            <a:custGeom>
              <a:avLst/>
              <a:gdLst/>
              <a:ahLst/>
              <a:cxnLst/>
              <a:rect r="r" b="b" t="t" l="l"/>
              <a:pathLst>
                <a:path h="5490718" w="6485231">
                  <a:moveTo>
                    <a:pt x="0" y="0"/>
                  </a:moveTo>
                  <a:lnTo>
                    <a:pt x="6485231" y="0"/>
                  </a:lnTo>
                  <a:lnTo>
                    <a:pt x="6485231" y="5490718"/>
                  </a:lnTo>
                  <a:lnTo>
                    <a:pt x="0" y="5490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33" t="0" r="-2233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09064"/>
            <a:ext cx="13543845" cy="81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 Data Layers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1372676"/>
            <a:ext cx="5490686" cy="82363"/>
            <a:chOff x="0" y="0"/>
            <a:chExt cx="7320915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20915" cy="109855"/>
            </a:xfrm>
            <a:custGeom>
              <a:avLst/>
              <a:gdLst/>
              <a:ahLst/>
              <a:cxnLst/>
              <a:rect r="r" b="b" t="t" l="l"/>
              <a:pathLst>
                <a:path h="109855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86333" y="2552916"/>
            <a:ext cx="4102630" cy="3212310"/>
            <a:chOff x="0" y="0"/>
            <a:chExt cx="6778742" cy="5307673"/>
          </a:xfrm>
        </p:grpSpPr>
        <p:sp>
          <p:nvSpPr>
            <p:cNvPr name="Freeform 6" id="6" descr="real_ndvi.png"/>
            <p:cNvSpPr/>
            <p:nvPr/>
          </p:nvSpPr>
          <p:spPr>
            <a:xfrm flipH="false" flipV="false" rot="0">
              <a:off x="0" y="0"/>
              <a:ext cx="6778779" cy="5307711"/>
            </a:xfrm>
            <a:custGeom>
              <a:avLst/>
              <a:gdLst/>
              <a:ahLst/>
              <a:cxnLst/>
              <a:rect r="r" b="b" t="t" l="l"/>
              <a:pathLst>
                <a:path h="5307711" w="6778779">
                  <a:moveTo>
                    <a:pt x="0" y="0"/>
                  </a:moveTo>
                  <a:lnTo>
                    <a:pt x="6778779" y="0"/>
                  </a:lnTo>
                  <a:lnTo>
                    <a:pt x="6778779" y="5307711"/>
                  </a:lnTo>
                  <a:lnTo>
                    <a:pt x="0" y="5307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16" r="0" b="-51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777773" y="5900585"/>
            <a:ext cx="3797875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NDVI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941618" y="2620837"/>
            <a:ext cx="3979059" cy="3144388"/>
            <a:chOff x="0" y="0"/>
            <a:chExt cx="6716584" cy="5307673"/>
          </a:xfrm>
        </p:grpSpPr>
        <p:sp>
          <p:nvSpPr>
            <p:cNvPr name="Freeform 9" id="9" descr="real_lst.png"/>
            <p:cNvSpPr/>
            <p:nvPr/>
          </p:nvSpPr>
          <p:spPr>
            <a:xfrm flipH="false" flipV="false" rot="0">
              <a:off x="0" y="0"/>
              <a:ext cx="6716622" cy="5307711"/>
            </a:xfrm>
            <a:custGeom>
              <a:avLst/>
              <a:gdLst/>
              <a:ahLst/>
              <a:cxnLst/>
              <a:rect r="r" b="b" t="t" l="l"/>
              <a:pathLst>
                <a:path h="5307711" w="6716622">
                  <a:moveTo>
                    <a:pt x="0" y="0"/>
                  </a:moveTo>
                  <a:lnTo>
                    <a:pt x="6716622" y="0"/>
                  </a:lnTo>
                  <a:lnTo>
                    <a:pt x="6716622" y="5307711"/>
                  </a:lnTo>
                  <a:lnTo>
                    <a:pt x="0" y="5307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6" r="0" b="-10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033058" y="5900585"/>
            <a:ext cx="3797875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LST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91145" y="2620837"/>
            <a:ext cx="3860613" cy="3144388"/>
            <a:chOff x="0" y="0"/>
            <a:chExt cx="6516649" cy="5307673"/>
          </a:xfrm>
        </p:grpSpPr>
        <p:sp>
          <p:nvSpPr>
            <p:cNvPr name="Freeform 12" id="12" descr="real_slope.png"/>
            <p:cNvSpPr/>
            <p:nvPr/>
          </p:nvSpPr>
          <p:spPr>
            <a:xfrm flipH="false" flipV="false" rot="0">
              <a:off x="0" y="0"/>
              <a:ext cx="6516688" cy="5307711"/>
            </a:xfrm>
            <a:custGeom>
              <a:avLst/>
              <a:gdLst/>
              <a:ahLst/>
              <a:cxnLst/>
              <a:rect r="r" b="b" t="t" l="l"/>
              <a:pathLst>
                <a:path h="5307711" w="6516688">
                  <a:moveTo>
                    <a:pt x="0" y="0"/>
                  </a:moveTo>
                  <a:lnTo>
                    <a:pt x="6516688" y="0"/>
                  </a:lnTo>
                  <a:lnTo>
                    <a:pt x="6516688" y="5307711"/>
                  </a:lnTo>
                  <a:lnTo>
                    <a:pt x="0" y="5307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4" t="0" r="-353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288342" y="5900585"/>
            <a:ext cx="3797875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Slope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722227" y="2592097"/>
            <a:ext cx="3807114" cy="3133947"/>
            <a:chOff x="0" y="0"/>
            <a:chExt cx="6447752" cy="5307673"/>
          </a:xfrm>
        </p:grpSpPr>
        <p:sp>
          <p:nvSpPr>
            <p:cNvPr name="Freeform 15" id="15" descr="real_rainfall.png"/>
            <p:cNvSpPr/>
            <p:nvPr/>
          </p:nvSpPr>
          <p:spPr>
            <a:xfrm flipH="false" flipV="false" rot="0">
              <a:off x="0" y="0"/>
              <a:ext cx="6447790" cy="5307711"/>
            </a:xfrm>
            <a:custGeom>
              <a:avLst/>
              <a:gdLst/>
              <a:ahLst/>
              <a:cxnLst/>
              <a:rect r="r" b="b" t="t" l="l"/>
              <a:pathLst>
                <a:path h="5307711" w="6447790">
                  <a:moveTo>
                    <a:pt x="0" y="0"/>
                  </a:moveTo>
                  <a:lnTo>
                    <a:pt x="6447790" y="0"/>
                  </a:lnTo>
                  <a:lnTo>
                    <a:pt x="6447790" y="5307711"/>
                  </a:lnTo>
                  <a:lnTo>
                    <a:pt x="0" y="5307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47" t="0" r="-2646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543626" y="5900585"/>
            <a:ext cx="3797875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Rainfall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431677" y="6645509"/>
            <a:ext cx="4529823" cy="3557671"/>
            <a:chOff x="0" y="0"/>
            <a:chExt cx="6758022" cy="5307673"/>
          </a:xfrm>
        </p:grpSpPr>
        <p:sp>
          <p:nvSpPr>
            <p:cNvPr name="Freeform 18" id="18" descr="real_soil_ph.png"/>
            <p:cNvSpPr/>
            <p:nvPr/>
          </p:nvSpPr>
          <p:spPr>
            <a:xfrm flipH="false" flipV="false" rot="0">
              <a:off x="0" y="0"/>
              <a:ext cx="6758060" cy="5307711"/>
            </a:xfrm>
            <a:custGeom>
              <a:avLst/>
              <a:gdLst/>
              <a:ahLst/>
              <a:cxnLst/>
              <a:rect r="r" b="b" t="t" l="l"/>
              <a:pathLst>
                <a:path h="5307711" w="6758060">
                  <a:moveTo>
                    <a:pt x="0" y="0"/>
                  </a:moveTo>
                  <a:lnTo>
                    <a:pt x="6758060" y="0"/>
                  </a:lnTo>
                  <a:lnTo>
                    <a:pt x="6758060" y="5307711"/>
                  </a:lnTo>
                  <a:lnTo>
                    <a:pt x="0" y="5307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84" r="0" b="-683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523117" y="9606801"/>
            <a:ext cx="3797875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Soil pH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471431" y="6624914"/>
            <a:ext cx="4472237" cy="3578266"/>
            <a:chOff x="0" y="0"/>
            <a:chExt cx="6633707" cy="5307673"/>
          </a:xfrm>
        </p:grpSpPr>
        <p:sp>
          <p:nvSpPr>
            <p:cNvPr name="Freeform 21" id="21" descr="real_dem.png"/>
            <p:cNvSpPr/>
            <p:nvPr/>
          </p:nvSpPr>
          <p:spPr>
            <a:xfrm flipH="false" flipV="false" rot="0">
              <a:off x="0" y="0"/>
              <a:ext cx="6633745" cy="5307711"/>
            </a:xfrm>
            <a:custGeom>
              <a:avLst/>
              <a:gdLst/>
              <a:ahLst/>
              <a:cxnLst/>
              <a:rect r="r" b="b" t="t" l="l"/>
              <a:pathLst>
                <a:path h="5307711" w="6633745">
                  <a:moveTo>
                    <a:pt x="0" y="0"/>
                  </a:moveTo>
                  <a:lnTo>
                    <a:pt x="6633745" y="0"/>
                  </a:lnTo>
                  <a:lnTo>
                    <a:pt x="6633745" y="5307711"/>
                  </a:lnTo>
                  <a:lnTo>
                    <a:pt x="0" y="5307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518" t="0" r="-517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700146" y="9606801"/>
            <a:ext cx="3797875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09064"/>
            <a:ext cx="13543845" cy="81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MCE — Maize Suitability Results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1372676"/>
            <a:ext cx="6863363" cy="82363"/>
            <a:chOff x="0" y="0"/>
            <a:chExt cx="9151150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51112" cy="109855"/>
            </a:xfrm>
            <a:custGeom>
              <a:avLst/>
              <a:gdLst/>
              <a:ahLst/>
              <a:cxnLst/>
              <a:rect r="r" b="b" t="t" l="l"/>
              <a:pathLst>
                <a:path h="109855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89577" y="1792091"/>
            <a:ext cx="7366816" cy="612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Weighted Linear Combination: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SMI: 40%  |  Slope: 20%  |  Rainfall: 20%  |  pH: 20%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Suitability Distribution:</a:t>
            </a:r>
          </a:p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Highly Suitable (S1):      0.1%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ECC71"/>
                </a:solidFill>
                <a:latin typeface="Calibri (MS)"/>
                <a:ea typeface="Calibri (MS)"/>
                <a:cs typeface="Calibri (MS)"/>
                <a:sym typeface="Calibri (MS)"/>
              </a:rPr>
              <a:t>  Suitable (S2):            60.6%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  Moderately Suitable (S3): 38.1%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  Marginally Suitable (S4):  1.3%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  Not Suitable (S5):         0.0%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Finding:</a:t>
            </a: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Over 60% of Bidar is Suitable for Maize.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Limiting factor: alkaline soil pH (~7.6)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660799" y="1647206"/>
            <a:ext cx="8497603" cy="7549696"/>
            <a:chOff x="0" y="0"/>
            <a:chExt cx="11330137" cy="10066261"/>
          </a:xfrm>
        </p:grpSpPr>
        <p:sp>
          <p:nvSpPr>
            <p:cNvPr name="Freeform 7" id="7" descr="mce_suitability_bidar.png"/>
            <p:cNvSpPr/>
            <p:nvPr/>
          </p:nvSpPr>
          <p:spPr>
            <a:xfrm flipH="false" flipV="false" rot="0">
              <a:off x="0" y="0"/>
              <a:ext cx="11330150" cy="10066274"/>
            </a:xfrm>
            <a:custGeom>
              <a:avLst/>
              <a:gdLst/>
              <a:ahLst/>
              <a:cxnLst/>
              <a:rect r="r" b="b" t="t" l="l"/>
              <a:pathLst>
                <a:path h="10066274" w="11330150">
                  <a:moveTo>
                    <a:pt x="0" y="0"/>
                  </a:moveTo>
                  <a:lnTo>
                    <a:pt x="11330150" y="0"/>
                  </a:lnTo>
                  <a:lnTo>
                    <a:pt x="11330150" y="10066274"/>
                  </a:lnTo>
                  <a:lnTo>
                    <a:pt x="0" y="10066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45" t="0" r="-345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09064"/>
            <a:ext cx="13543845" cy="81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Machine Learning — 3 Algorithm Comparison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1372676"/>
            <a:ext cx="8236039" cy="82363"/>
            <a:chOff x="0" y="0"/>
            <a:chExt cx="10981385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81436" cy="109855"/>
            </a:xfrm>
            <a:custGeom>
              <a:avLst/>
              <a:gdLst/>
              <a:ahLst/>
              <a:cxnLst/>
              <a:rect r="r" b="b" t="t" l="l"/>
              <a:pathLst>
                <a:path h="109855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89577" y="1773041"/>
            <a:ext cx="7366816" cy="6142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Algorithm          Accuracy   Kappa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Random Forest      95.28%     0.1734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SVM (RBF)          98.08%     0.0000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Gradient Boosting  97.50%     0.0465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 Feature Importances: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  Rainfall: 0.30 | LST: 0.23 | NDVI: 0.22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  TWI: 0.14 | Slope: 0.11 | pH: 0.00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 accuracy but low Kappa due to</a:t>
            </a:r>
          </a:p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severe class imbalance (98% Class 5).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Data distribution limitation, not algorithm.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899721" y="3558559"/>
            <a:ext cx="9359579" cy="3963858"/>
            <a:chOff x="0" y="0"/>
            <a:chExt cx="23768751" cy="10066261"/>
          </a:xfrm>
        </p:grpSpPr>
        <p:sp>
          <p:nvSpPr>
            <p:cNvPr name="Freeform 7" id="7" descr="ml_comparison_chart.png"/>
            <p:cNvSpPr/>
            <p:nvPr/>
          </p:nvSpPr>
          <p:spPr>
            <a:xfrm flipH="false" flipV="false" rot="0">
              <a:off x="0" y="0"/>
              <a:ext cx="23768763" cy="10066274"/>
            </a:xfrm>
            <a:custGeom>
              <a:avLst/>
              <a:gdLst/>
              <a:ahLst/>
              <a:cxnLst/>
              <a:rect r="r" b="b" t="t" l="l"/>
              <a:pathLst>
                <a:path h="10066274" w="23768763">
                  <a:moveTo>
                    <a:pt x="0" y="0"/>
                  </a:moveTo>
                  <a:lnTo>
                    <a:pt x="23768763" y="0"/>
                  </a:lnTo>
                  <a:lnTo>
                    <a:pt x="23768763" y="10066274"/>
                  </a:lnTo>
                  <a:lnTo>
                    <a:pt x="0" y="10066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26" t="0" r="-1426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09064"/>
            <a:ext cx="13543845" cy="81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ML Suitability Maps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1372676"/>
            <a:ext cx="5490686" cy="82363"/>
            <a:chOff x="0" y="0"/>
            <a:chExt cx="7320915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20915" cy="109855"/>
            </a:xfrm>
            <a:custGeom>
              <a:avLst/>
              <a:gdLst/>
              <a:ahLst/>
              <a:cxnLst/>
              <a:rect r="r" b="b" t="t" l="l"/>
              <a:pathLst>
                <a:path h="109855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66334" y="2693309"/>
            <a:ext cx="4550189" cy="4307318"/>
            <a:chOff x="0" y="0"/>
            <a:chExt cx="7347031" cy="6954876"/>
          </a:xfrm>
        </p:grpSpPr>
        <p:sp>
          <p:nvSpPr>
            <p:cNvPr name="Freeform 6" id="6" descr="ml_suitability_rf.png"/>
            <p:cNvSpPr/>
            <p:nvPr/>
          </p:nvSpPr>
          <p:spPr>
            <a:xfrm flipH="false" flipV="false" rot="0">
              <a:off x="0" y="0"/>
              <a:ext cx="7347056" cy="6954901"/>
            </a:xfrm>
            <a:custGeom>
              <a:avLst/>
              <a:gdLst/>
              <a:ahLst/>
              <a:cxnLst/>
              <a:rect r="r" b="b" t="t" l="l"/>
              <a:pathLst>
                <a:path h="6954901" w="7347056">
                  <a:moveTo>
                    <a:pt x="0" y="0"/>
                  </a:moveTo>
                  <a:lnTo>
                    <a:pt x="7347056" y="0"/>
                  </a:lnTo>
                  <a:lnTo>
                    <a:pt x="7347056" y="6954901"/>
                  </a:lnTo>
                  <a:lnTo>
                    <a:pt x="0" y="695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42" t="0" r="-3641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89577" y="7145512"/>
            <a:ext cx="5033277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 Forest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726098" y="2693309"/>
            <a:ext cx="4722871" cy="4307318"/>
            <a:chOff x="0" y="0"/>
            <a:chExt cx="7625855" cy="6954876"/>
          </a:xfrm>
        </p:grpSpPr>
        <p:sp>
          <p:nvSpPr>
            <p:cNvPr name="Freeform 9" id="9" descr="ml_suitability_svm.png"/>
            <p:cNvSpPr/>
            <p:nvPr/>
          </p:nvSpPr>
          <p:spPr>
            <a:xfrm flipH="false" flipV="false" rot="0">
              <a:off x="0" y="0"/>
              <a:ext cx="7625880" cy="6954901"/>
            </a:xfrm>
            <a:custGeom>
              <a:avLst/>
              <a:gdLst/>
              <a:ahLst/>
              <a:cxnLst/>
              <a:rect r="r" b="b" t="t" l="l"/>
              <a:pathLst>
                <a:path h="6954901" w="7625880">
                  <a:moveTo>
                    <a:pt x="0" y="0"/>
                  </a:moveTo>
                  <a:lnTo>
                    <a:pt x="7625880" y="0"/>
                  </a:lnTo>
                  <a:lnTo>
                    <a:pt x="7625880" y="6954901"/>
                  </a:lnTo>
                  <a:lnTo>
                    <a:pt x="0" y="695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81" t="0" r="-168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817538" y="7145512"/>
            <a:ext cx="5033277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SVM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701392" y="2693309"/>
            <a:ext cx="4846259" cy="4307318"/>
            <a:chOff x="0" y="0"/>
            <a:chExt cx="7825085" cy="6954876"/>
          </a:xfrm>
        </p:grpSpPr>
        <p:sp>
          <p:nvSpPr>
            <p:cNvPr name="Freeform 12" id="12" descr="ml_suitability_gb.png"/>
            <p:cNvSpPr/>
            <p:nvPr/>
          </p:nvSpPr>
          <p:spPr>
            <a:xfrm flipH="false" flipV="false" rot="0">
              <a:off x="0" y="0"/>
              <a:ext cx="782511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825111">
                  <a:moveTo>
                    <a:pt x="0" y="0"/>
                  </a:moveTo>
                  <a:lnTo>
                    <a:pt x="7825111" y="0"/>
                  </a:lnTo>
                  <a:lnTo>
                    <a:pt x="7825111" y="6954901"/>
                  </a:lnTo>
                  <a:lnTo>
                    <a:pt x="0" y="695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65" t="0" r="-364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445489" y="7145512"/>
            <a:ext cx="5033277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Gradient Boosting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09064"/>
            <a:ext cx="13543845" cy="81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Confusion Matrices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1372676"/>
            <a:ext cx="5490686" cy="82363"/>
            <a:chOff x="0" y="0"/>
            <a:chExt cx="7320915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20915" cy="109855"/>
            </a:xfrm>
            <a:custGeom>
              <a:avLst/>
              <a:gdLst/>
              <a:ahLst/>
              <a:cxnLst/>
              <a:rect r="r" b="b" t="t" l="l"/>
              <a:pathLst>
                <a:path h="109855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98862" y="2166603"/>
            <a:ext cx="5482072" cy="4834025"/>
            <a:chOff x="0" y="0"/>
            <a:chExt cx="7887243" cy="6954876"/>
          </a:xfrm>
        </p:grpSpPr>
        <p:sp>
          <p:nvSpPr>
            <p:cNvPr name="Freeform 6" id="6" descr="ml_confusion_rf.png"/>
            <p:cNvSpPr/>
            <p:nvPr/>
          </p:nvSpPr>
          <p:spPr>
            <a:xfrm flipH="false" flipV="false" rot="0">
              <a:off x="0" y="0"/>
              <a:ext cx="7887268" cy="6954901"/>
            </a:xfrm>
            <a:custGeom>
              <a:avLst/>
              <a:gdLst/>
              <a:ahLst/>
              <a:cxnLst/>
              <a:rect r="r" b="b" t="t" l="l"/>
              <a:pathLst>
                <a:path h="6954901" w="7887268">
                  <a:moveTo>
                    <a:pt x="0" y="0"/>
                  </a:moveTo>
                  <a:lnTo>
                    <a:pt x="7887268" y="0"/>
                  </a:lnTo>
                  <a:lnTo>
                    <a:pt x="7887268" y="6954901"/>
                  </a:lnTo>
                  <a:lnTo>
                    <a:pt x="0" y="695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0" b="-13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23259" y="7145512"/>
            <a:ext cx="5033277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 Forest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416979" y="2166603"/>
            <a:ext cx="5525275" cy="4834025"/>
            <a:chOff x="0" y="0"/>
            <a:chExt cx="7949401" cy="6954876"/>
          </a:xfrm>
        </p:grpSpPr>
        <p:sp>
          <p:nvSpPr>
            <p:cNvPr name="Freeform 9" id="9" descr="ml_confusion_svm.png"/>
            <p:cNvSpPr/>
            <p:nvPr/>
          </p:nvSpPr>
          <p:spPr>
            <a:xfrm flipH="false" flipV="false" rot="0">
              <a:off x="0" y="0"/>
              <a:ext cx="7949426" cy="6954901"/>
            </a:xfrm>
            <a:custGeom>
              <a:avLst/>
              <a:gdLst/>
              <a:ahLst/>
              <a:cxnLst/>
              <a:rect r="r" b="b" t="t" l="l"/>
              <a:pathLst>
                <a:path h="6954901" w="7949426">
                  <a:moveTo>
                    <a:pt x="0" y="0"/>
                  </a:moveTo>
                  <a:lnTo>
                    <a:pt x="7949426" y="0"/>
                  </a:lnTo>
                  <a:lnTo>
                    <a:pt x="7949426" y="6954901"/>
                  </a:lnTo>
                  <a:lnTo>
                    <a:pt x="0" y="695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27" r="0" b="-52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534374" y="7145512"/>
            <a:ext cx="5033277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SVM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354049" y="2166603"/>
            <a:ext cx="5499234" cy="4834025"/>
            <a:chOff x="0" y="0"/>
            <a:chExt cx="7911935" cy="6954876"/>
          </a:xfrm>
        </p:grpSpPr>
        <p:sp>
          <p:nvSpPr>
            <p:cNvPr name="Freeform 12" id="12" descr="ml_confusion_gb.png"/>
            <p:cNvSpPr/>
            <p:nvPr/>
          </p:nvSpPr>
          <p:spPr>
            <a:xfrm flipH="false" flipV="false" rot="0">
              <a:off x="0" y="0"/>
              <a:ext cx="7911960" cy="6954901"/>
            </a:xfrm>
            <a:custGeom>
              <a:avLst/>
              <a:gdLst/>
              <a:ahLst/>
              <a:cxnLst/>
              <a:rect r="r" b="b" t="t" l="l"/>
              <a:pathLst>
                <a:path h="6954901" w="7911960">
                  <a:moveTo>
                    <a:pt x="0" y="0"/>
                  </a:moveTo>
                  <a:lnTo>
                    <a:pt x="7911960" y="0"/>
                  </a:lnTo>
                  <a:lnTo>
                    <a:pt x="7911960" y="6954901"/>
                  </a:lnTo>
                  <a:lnTo>
                    <a:pt x="0" y="695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89" r="0" b="-289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445489" y="7145512"/>
            <a:ext cx="5033277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Gradient Boosting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09064"/>
            <a:ext cx="13543845" cy="81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MCE vs ML Comparison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1372676"/>
            <a:ext cx="5490686" cy="82363"/>
            <a:chOff x="0" y="0"/>
            <a:chExt cx="7320915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20915" cy="109855"/>
            </a:xfrm>
            <a:custGeom>
              <a:avLst/>
              <a:gdLst/>
              <a:ahLst/>
              <a:cxnLst/>
              <a:rect r="r" b="b" t="t" l="l"/>
              <a:pathLst>
                <a:path h="109855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89577" y="1792091"/>
            <a:ext cx="7366816" cy="612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MCE vs ML Agreement: 1.27%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Cohen's Kappa: −0.0019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the disagreement?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MCE uses expert-defined weights &amp; thresholds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ML learns from Copernicus SWI ground truth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Different classification philosophies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9F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Both approaches are complementary: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MCE → interpretable, expert-driven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• ML → data-driven, captures non-linear patterns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754035" y="1647206"/>
            <a:ext cx="8404366" cy="7549696"/>
            <a:chOff x="0" y="0"/>
            <a:chExt cx="11205822" cy="10066261"/>
          </a:xfrm>
        </p:grpSpPr>
        <p:sp>
          <p:nvSpPr>
            <p:cNvPr name="Freeform 7" id="7" descr="mce_vs_ml_matrix.png"/>
            <p:cNvSpPr/>
            <p:nvPr/>
          </p:nvSpPr>
          <p:spPr>
            <a:xfrm flipH="false" flipV="false" rot="0">
              <a:off x="0" y="0"/>
              <a:ext cx="11205834" cy="10066274"/>
            </a:xfrm>
            <a:custGeom>
              <a:avLst/>
              <a:gdLst/>
              <a:ahLst/>
              <a:cxnLst/>
              <a:rect r="r" b="b" t="t" l="l"/>
              <a:pathLst>
                <a:path h="10066274" w="11205834">
                  <a:moveTo>
                    <a:pt x="0" y="0"/>
                  </a:moveTo>
                  <a:lnTo>
                    <a:pt x="11205834" y="0"/>
                  </a:lnTo>
                  <a:lnTo>
                    <a:pt x="11205834" y="10066274"/>
                  </a:lnTo>
                  <a:lnTo>
                    <a:pt x="0" y="10066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02" t="0" r="-802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09064"/>
            <a:ext cx="8053159" cy="81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1372676"/>
            <a:ext cx="5490686" cy="82363"/>
            <a:chOff x="0" y="0"/>
            <a:chExt cx="7320915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20915" cy="109855"/>
            </a:xfrm>
            <a:custGeom>
              <a:avLst/>
              <a:gdLst/>
              <a:ahLst/>
              <a:cxnLst/>
              <a:rect r="r" b="b" t="t" l="l"/>
              <a:pathLst>
                <a:path h="109855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64116" y="1919840"/>
            <a:ext cx="14916512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1.  SWI ground truth lacks georeferencing — resized to fit study area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4116" y="2743438"/>
            <a:ext cx="14916512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2.  SoilGrids pH had limited coverage — gaps filled with regional avg (7.6)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4116" y="3567046"/>
            <a:ext cx="14916512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3.  Simplified TWI using neighbourhood mean instead of D8 flow routing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4116" y="4390644"/>
            <a:ext cx="14916512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4.  Severe class imbalance (98% Class 5) limits ML minority-class performance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4116" y="5214252"/>
            <a:ext cx="14916512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5.  Temporal mismatch: MODIS 2023 vs SWI 2025 validation data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09064"/>
            <a:ext cx="13543845" cy="81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1372676"/>
            <a:ext cx="5490686" cy="82363"/>
            <a:chOff x="0" y="0"/>
            <a:chExt cx="7320915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20915" cy="109855"/>
            </a:xfrm>
            <a:custGeom>
              <a:avLst/>
              <a:gdLst/>
              <a:ahLst/>
              <a:cxnLst/>
              <a:rect r="r" b="b" t="t" l="l"/>
              <a:pathLst>
                <a:path h="109855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89577" y="1773041"/>
            <a:ext cx="14916512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ECC71"/>
                </a:solidFill>
                <a:latin typeface="Calibri (MS)"/>
                <a:ea typeface="Calibri (MS)"/>
                <a:cs typeface="Calibri (MS)"/>
                <a:sym typeface="Calibri (MS)"/>
              </a:rPr>
              <a:t>  Generated spatially continuous soil moisture proxy maps using TVDI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ECC71"/>
                </a:solidFill>
                <a:latin typeface="Calibri (MS)"/>
                <a:ea typeface="Calibri (MS)"/>
                <a:cs typeface="Calibri (MS)"/>
                <a:sym typeface="Calibri (MS)"/>
              </a:rPr>
              <a:t>  Over 60% of Bidar classified as Suitable for Maize (MCE)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ECC71"/>
                </a:solidFill>
                <a:latin typeface="Calibri (MS)"/>
                <a:ea typeface="Calibri (MS)"/>
                <a:cs typeface="Calibri (MS)"/>
                <a:sym typeface="Calibri (MS)"/>
              </a:rPr>
              <a:t>  3 ML models trained — RF, SVM, GB — all achieving ~95% accuracy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ECC71"/>
                </a:solidFill>
                <a:latin typeface="Calibri (MS)"/>
                <a:ea typeface="Calibri (MS)"/>
                <a:cs typeface="Calibri (MS)"/>
                <a:sym typeface="Calibri (MS)"/>
              </a:rPr>
              <a:t>  MCE provides interpretability; ML captures non-linear patterns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ECC71"/>
                </a:solidFill>
                <a:latin typeface="Calibri (MS)"/>
                <a:ea typeface="Calibri (MS)"/>
                <a:cs typeface="Calibri (MS)"/>
                <a:sym typeface="Calibri (MS)"/>
              </a:rPr>
              <a:t>  All analysis uses real satellite data from open-access portals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Tools: Python, rasterio, scikit-learn, matplotlib, numpy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Data: NASA, OpenTopography, ISRIC, UCSB, Copernicus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509064"/>
            <a:ext cx="8053159" cy="81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References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8137" y="1372676"/>
            <a:ext cx="5490686" cy="82363"/>
            <a:chOff x="0" y="0"/>
            <a:chExt cx="7320915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20915" cy="109855"/>
            </a:xfrm>
            <a:custGeom>
              <a:avLst/>
              <a:gdLst/>
              <a:ahLst/>
              <a:cxnLst/>
              <a:rect r="r" b="b" t="t" l="l"/>
              <a:pathLst>
                <a:path h="109855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64116" y="1782566"/>
            <a:ext cx="14916512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[1]  Sandholt et al. (2002) — TVDI method, Remote Sensing of Environment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4116" y="2359095"/>
            <a:ext cx="14916512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[2]  Beven &amp; Kirkby (1979) — TWI, Hydrological Sciences Bulletin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4116" y="2935615"/>
            <a:ext cx="14916512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[3]  FAO (1976) — Framework for Land Evaluation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4116" y="3512134"/>
            <a:ext cx="14916512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[4]  Breiman (2001) — Random Forests, Machine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4116" y="4088663"/>
            <a:ext cx="14916512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[5]  Congalton (1991) — Accuracy assessment, RSE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4116" y="4665183"/>
            <a:ext cx="14916512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[6]  Didan (2021) — MOD13Q1 NDVI product, NASA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4116" y="5241703"/>
            <a:ext cx="14916512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[7]  Wan et al. (2021) — MOD11A2 LST product, NASA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4116" y="5818222"/>
            <a:ext cx="14916512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[8]  Funk et al. (2015) — CHIRPS precipitation, Scientific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64116" y="6394752"/>
            <a:ext cx="14916512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AD2E0"/>
                </a:solidFill>
                <a:latin typeface="Calibri (MS)"/>
                <a:ea typeface="Calibri (MS)"/>
                <a:cs typeface="Calibri (MS)"/>
                <a:sym typeface="Calibri (MS)"/>
              </a:rPr>
              <a:t>[9]  Hengl et al. (2017) — SoilGrids250m, PLOS ONE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18019" y="3843480"/>
            <a:ext cx="10020510" cy="82363"/>
            <a:chOff x="0" y="0"/>
            <a:chExt cx="13360679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0654" cy="109855"/>
            </a:xfrm>
            <a:custGeom>
              <a:avLst/>
              <a:gdLst/>
              <a:ahLst/>
              <a:cxnLst/>
              <a:rect r="r" b="b" t="t" l="l"/>
              <a:pathLst>
                <a:path h="109855" w="13360654">
                  <a:moveTo>
                    <a:pt x="0" y="0"/>
                  </a:moveTo>
                  <a:lnTo>
                    <a:pt x="13360654" y="0"/>
                  </a:lnTo>
                  <a:lnTo>
                    <a:pt x="133606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150450" y="4020864"/>
            <a:ext cx="13955649" cy="1698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6"/>
              </a:lnSpc>
            </a:pPr>
            <a:r>
              <a:rPr lang="en-US" sz="720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118019" y="5902490"/>
            <a:ext cx="10020510" cy="82363"/>
            <a:chOff x="0" y="0"/>
            <a:chExt cx="13360679" cy="1098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60654" cy="109855"/>
            </a:xfrm>
            <a:custGeom>
              <a:avLst/>
              <a:gdLst/>
              <a:ahLst/>
              <a:cxnLst/>
              <a:rect r="r" b="b" t="t" l="l"/>
              <a:pathLst>
                <a:path h="109855" w="13360654">
                  <a:moveTo>
                    <a:pt x="0" y="0"/>
                  </a:moveTo>
                  <a:lnTo>
                    <a:pt x="13360654" y="0"/>
                  </a:lnTo>
                  <a:lnTo>
                    <a:pt x="133606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50450" y="6293339"/>
            <a:ext cx="13955649" cy="661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>
                <a:solidFill>
                  <a:srgbClr val="00B4D8"/>
                </a:solidFill>
                <a:latin typeface="Calibri (MS)"/>
                <a:ea typeface="Calibri (MS)"/>
                <a:cs typeface="Calibri (MS)"/>
                <a:sym typeface="Calibri (MS)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DAHIMis0t5I</dc:identifier>
  <dcterms:modified xsi:type="dcterms:W3CDTF">2011-08-01T06:04:30Z</dcterms:modified>
  <cp:revision>1</cp:revision>
  <dc:title>GIS_Project_Presentation.pptx</dc:title>
</cp:coreProperties>
</file>